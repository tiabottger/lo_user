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95" d="100"/>
          <a:sy n="95" d="100"/>
        </p:scale>
        <p:origin x="150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122363"/>
            <a:ext cx="58293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7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6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709740"/>
            <a:ext cx="5915025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4589465"/>
            <a:ext cx="5915025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34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825625"/>
            <a:ext cx="29146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380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65127"/>
            <a:ext cx="59150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681163"/>
            <a:ext cx="2901255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2505075"/>
            <a:ext cx="290125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681163"/>
            <a:ext cx="291554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2505075"/>
            <a:ext cx="29155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80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2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987427"/>
            <a:ext cx="3471863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0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57200"/>
            <a:ext cx="2211884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987427"/>
            <a:ext cx="3471863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057400"/>
            <a:ext cx="2211884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1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5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5054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8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65127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51E4E-4E89-46A5-811C-ABE8FC37155B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6356352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1324C-818E-40AC-9E31-0B85124FA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1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8.png"/><Relationship Id="rId5" Type="http://schemas.openxmlformats.org/officeDocument/2006/relationships/image" Target="../media/image7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3C0243-1E50-A1FF-4B76-E5A6A1527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53" y="312420"/>
            <a:ext cx="2289246" cy="1149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886FF6-FC4B-3ED8-FD9C-E51B70C95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12809"/>
            <a:ext cx="2289246" cy="11492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17F298-83C4-8EA9-3A5E-625B70F523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3"/>
          <a:stretch>
            <a:fillRect/>
          </a:stretch>
        </p:blipFill>
        <p:spPr>
          <a:xfrm>
            <a:off x="1139753" y="1392758"/>
            <a:ext cx="2289246" cy="10023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1A2A10-7E16-38D9-236C-C1657E2AD9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6"/>
          <a:stretch>
            <a:fillRect/>
          </a:stretch>
        </p:blipFill>
        <p:spPr>
          <a:xfrm>
            <a:off x="3429000" y="1392756"/>
            <a:ext cx="2289246" cy="9927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B436ED-2F8D-727B-2890-8E5A89BE40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2"/>
          <a:stretch>
            <a:fillRect/>
          </a:stretch>
        </p:blipFill>
        <p:spPr>
          <a:xfrm>
            <a:off x="1139753" y="2331664"/>
            <a:ext cx="2289246" cy="9757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229FFE-583C-587F-A755-2006632B17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22"/>
          <a:stretch>
            <a:fillRect/>
          </a:stretch>
        </p:blipFill>
        <p:spPr>
          <a:xfrm>
            <a:off x="3412444" y="2326381"/>
            <a:ext cx="2289247" cy="984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15295A-D656-6A99-B3A8-35CCD22CE7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68"/>
          <a:stretch>
            <a:fillRect/>
          </a:stretch>
        </p:blipFill>
        <p:spPr>
          <a:xfrm>
            <a:off x="1151611" y="3247593"/>
            <a:ext cx="2289246" cy="9856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8B66A95-A7A8-7C5A-F700-CD9FF044D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8"/>
          <a:stretch>
            <a:fillRect/>
          </a:stretch>
        </p:blipFill>
        <p:spPr>
          <a:xfrm>
            <a:off x="3424303" y="3247595"/>
            <a:ext cx="2293945" cy="9846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78C1208-FD2F-E985-BEF9-1DCAC4F1B1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57"/>
          <a:stretch>
            <a:fillRect/>
          </a:stretch>
        </p:blipFill>
        <p:spPr>
          <a:xfrm>
            <a:off x="1168633" y="4163523"/>
            <a:ext cx="2284082" cy="9846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CC08C7-5DC5-7694-94F1-AAA39CAFC2B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99"/>
          <a:stretch>
            <a:fillRect/>
          </a:stretch>
        </p:blipFill>
        <p:spPr>
          <a:xfrm>
            <a:off x="3429001" y="4169515"/>
            <a:ext cx="2299351" cy="98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36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233B-7969-D283-C945-8CA24F524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84B9245-F956-C5E5-2007-547FF1C72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0722" y="303235"/>
            <a:ext cx="2289246" cy="11492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ADD5B-24BE-DD42-700D-F25377FD3E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98" y="312420"/>
            <a:ext cx="2289246" cy="11496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E034A1-99A2-3768-6592-86DE576DE2A4}"/>
              </a:ext>
            </a:extLst>
          </p:cNvPr>
          <p:cNvSpPr txBox="1"/>
          <p:nvPr/>
        </p:nvSpPr>
        <p:spPr>
          <a:xfrm>
            <a:off x="1321358" y="5913455"/>
            <a:ext cx="2182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Including 4 reruns of 2013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F46909-AB7A-95DC-147B-F3EFF9123F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83"/>
          <a:stretch>
            <a:fillRect/>
          </a:stretch>
        </p:blipFill>
        <p:spPr>
          <a:xfrm>
            <a:off x="1143332" y="1397800"/>
            <a:ext cx="2293945" cy="9897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95AE27-BFE0-7911-D935-A95F8E664B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6"/>
          <a:stretch>
            <a:fillRect/>
          </a:stretch>
        </p:blipFill>
        <p:spPr>
          <a:xfrm>
            <a:off x="3419808" y="1390215"/>
            <a:ext cx="2299351" cy="9897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9DD40A-5AE0-01C6-62A0-85F65F26DA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5"/>
          <a:stretch>
            <a:fillRect/>
          </a:stretch>
        </p:blipFill>
        <p:spPr>
          <a:xfrm>
            <a:off x="1148340" y="2327737"/>
            <a:ext cx="2299351" cy="98977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EC75E43-B5FC-BFCB-4A8A-B0F344BCF6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56"/>
          <a:stretch>
            <a:fillRect/>
          </a:stretch>
        </p:blipFill>
        <p:spPr>
          <a:xfrm>
            <a:off x="3426297" y="2312135"/>
            <a:ext cx="2299351" cy="9897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14601D-EC0D-B8C4-4F24-897A2780FC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85"/>
          <a:stretch>
            <a:fillRect/>
          </a:stretch>
        </p:blipFill>
        <p:spPr>
          <a:xfrm>
            <a:off x="1148339" y="3248478"/>
            <a:ext cx="2299351" cy="98977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E6E139-8798-4685-3D95-7E0287D10B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5"/>
          <a:stretch>
            <a:fillRect/>
          </a:stretch>
        </p:blipFill>
        <p:spPr>
          <a:xfrm>
            <a:off x="3444928" y="3240825"/>
            <a:ext cx="2281761" cy="9897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59B5139-EB6B-B7A7-F65F-B7CCF5CD165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7"/>
          <a:stretch>
            <a:fillRect/>
          </a:stretch>
        </p:blipFill>
        <p:spPr>
          <a:xfrm>
            <a:off x="1137051" y="4177168"/>
            <a:ext cx="2289246" cy="98977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D20DD7-878B-6435-3422-2658E8659A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75"/>
          <a:stretch>
            <a:fillRect/>
          </a:stretch>
        </p:blipFill>
        <p:spPr>
          <a:xfrm>
            <a:off x="3419808" y="4169729"/>
            <a:ext cx="2299351" cy="98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45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9E9597-19CE-9CBB-E86D-0608A9BC17BD}"/>
                  </a:ext>
                </a:extLst>
              </p:cNvPr>
              <p:cNvSpPr txBox="1"/>
              <p:nvPr/>
            </p:nvSpPr>
            <p:spPr>
              <a:xfrm>
                <a:off x="424542" y="827929"/>
                <a:ext cx="3343589" cy="1101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/>
                  <a:t>Percent convergence defined relative to the </a:t>
                </a:r>
              </a:p>
              <a:p>
                <a:r>
                  <a:rPr lang="en-US" sz="900" dirty="0"/>
                  <a:t>initial difference between runs:</a:t>
                </a:r>
              </a:p>
              <a:p>
                <a:endParaRPr lang="en-US" sz="900" dirty="0"/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00" i="1">
                              <a:latin typeface="Cambria Math" panose="02040503050406030204" pitchFamily="18" charset="0"/>
                            </a:rPr>
                            <m:t>1 − </m:t>
                          </m:r>
                          <m:f>
                            <m:fPr>
                              <m:ctrlPr>
                                <a:rPr lang="en-US" sz="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𝑅𝑀𝑆</m:t>
                              </m:r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</m:e>
                                <m:sub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b>
                                <m:sSubPr>
                                  <m:ctrlP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</m:e>
                                <m:sub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𝑅𝑀𝑆</m:t>
                              </m:r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</m:e>
                                <m:sub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𝑟𝑢𝑛</m:t>
                                  </m:r>
                                </m:e>
                                <m:sub>
                                  <m:r>
                                    <a:rPr lang="en-US" sz="9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9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∙100</m:t>
                      </m:r>
                    </m:oMath>
                  </m:oMathPara>
                </a14:m>
                <a:endParaRPr lang="en-US" sz="900" b="0" dirty="0">
                  <a:ea typeface="Cambria Math" panose="02040503050406030204" pitchFamily="18" charset="0"/>
                </a:endParaRPr>
              </a:p>
              <a:p>
                <a:endParaRPr lang="en-US" sz="900" b="0" dirty="0">
                  <a:ea typeface="Cambria Math" panose="02040503050406030204" pitchFamily="18" charset="0"/>
                </a:endParaRPr>
              </a:p>
              <a:p>
                <a:endParaRPr lang="en-US" sz="9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9E9597-19CE-9CBB-E86D-0608A9BC1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542" y="827929"/>
                <a:ext cx="3343589" cy="11011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A086E7B2-98AA-1F22-D25E-C1B0C4E5C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66" y="1850782"/>
            <a:ext cx="2954215" cy="17922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590622-F44C-8BA6-B5F0-99B3812A71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585" y="1823350"/>
            <a:ext cx="3044649" cy="184707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21519C2-A8E3-6235-5E55-14D7508C6424}"/>
              </a:ext>
            </a:extLst>
          </p:cNvPr>
          <p:cNvSpPr txBox="1"/>
          <p:nvPr/>
        </p:nvSpPr>
        <p:spPr>
          <a:xfrm>
            <a:off x="2871317" y="2110153"/>
            <a:ext cx="5124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94.3%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44E1EE-8DA9-78C4-82D3-C25863656A3C}"/>
              </a:ext>
            </a:extLst>
          </p:cNvPr>
          <p:cNvSpPr txBox="1"/>
          <p:nvPr/>
        </p:nvSpPr>
        <p:spPr>
          <a:xfrm>
            <a:off x="6081764" y="2217875"/>
            <a:ext cx="5124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86.0%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BBD9CE-E3FC-3B9C-9ADE-0B8DE99AE2ED}"/>
              </a:ext>
            </a:extLst>
          </p:cNvPr>
          <p:cNvSpPr/>
          <p:nvPr/>
        </p:nvSpPr>
        <p:spPr>
          <a:xfrm>
            <a:off x="949569" y="3481754"/>
            <a:ext cx="743578" cy="55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A2AFC43-F8AD-ABD2-1E63-952A4208A0E5}"/>
              </a:ext>
            </a:extLst>
          </p:cNvPr>
          <p:cNvSpPr/>
          <p:nvPr/>
        </p:nvSpPr>
        <p:spPr>
          <a:xfrm>
            <a:off x="2182167" y="3483429"/>
            <a:ext cx="743578" cy="55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25BDFD-606E-8EF3-29BB-FB8559CECADE}"/>
              </a:ext>
            </a:extLst>
          </p:cNvPr>
          <p:cNvSpPr/>
          <p:nvPr/>
        </p:nvSpPr>
        <p:spPr>
          <a:xfrm>
            <a:off x="4049484" y="3509387"/>
            <a:ext cx="743578" cy="55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59DAB4-DEE7-C85B-8AB6-D5D8BF8F179F}"/>
              </a:ext>
            </a:extLst>
          </p:cNvPr>
          <p:cNvSpPr/>
          <p:nvPr/>
        </p:nvSpPr>
        <p:spPr>
          <a:xfrm>
            <a:off x="5338186" y="3509387"/>
            <a:ext cx="743578" cy="55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9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05F0-91E8-4B64-2CD1-5FE89F70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ED755A-A687-651C-8346-F753AF3E6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3"/>
          <a:stretch>
            <a:fillRect/>
          </a:stretch>
        </p:blipFill>
        <p:spPr>
          <a:xfrm>
            <a:off x="1139753" y="1392758"/>
            <a:ext cx="2289246" cy="10023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A85C66-1462-F8FB-F2E8-975215D79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2"/>
          <a:stretch>
            <a:fillRect/>
          </a:stretch>
        </p:blipFill>
        <p:spPr>
          <a:xfrm>
            <a:off x="1139753" y="2331664"/>
            <a:ext cx="2289246" cy="9757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0853EE-2ADF-6DCF-DFA0-7A29E70EB7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22"/>
          <a:stretch>
            <a:fillRect/>
          </a:stretch>
        </p:blipFill>
        <p:spPr>
          <a:xfrm>
            <a:off x="3412444" y="2326381"/>
            <a:ext cx="2289247" cy="9846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2DFA409-D363-2D91-16F4-C150BE4B8A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68"/>
          <a:stretch>
            <a:fillRect/>
          </a:stretch>
        </p:blipFill>
        <p:spPr>
          <a:xfrm>
            <a:off x="1151611" y="3247593"/>
            <a:ext cx="2289246" cy="9856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63FA9DD-575E-0DDE-529F-044A6E6CD5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8"/>
          <a:stretch>
            <a:fillRect/>
          </a:stretch>
        </p:blipFill>
        <p:spPr>
          <a:xfrm>
            <a:off x="3424303" y="3247595"/>
            <a:ext cx="2293945" cy="9846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95BD2C-35C4-6DB6-644C-67F8E745CD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11" y="284740"/>
            <a:ext cx="2289248" cy="11496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425F6-B5B4-6946-76C9-7F03A158F0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303" y="278748"/>
            <a:ext cx="2289246" cy="11492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FFE6EC-F99D-6C29-3056-BF62265DBF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5"/>
          <a:stretch>
            <a:fillRect/>
          </a:stretch>
        </p:blipFill>
        <p:spPr>
          <a:xfrm>
            <a:off x="1145681" y="1362822"/>
            <a:ext cx="2289248" cy="9927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BE6A0B-F7CB-222D-6CC4-625B31A8EB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15" b="1"/>
          <a:stretch>
            <a:fillRect/>
          </a:stretch>
        </p:blipFill>
        <p:spPr>
          <a:xfrm>
            <a:off x="3431525" y="1365818"/>
            <a:ext cx="2289248" cy="9927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CC0C3B-AD85-1A25-498C-FC3D20194F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97"/>
          <a:stretch>
            <a:fillRect/>
          </a:stretch>
        </p:blipFill>
        <p:spPr>
          <a:xfrm>
            <a:off x="1150317" y="2292864"/>
            <a:ext cx="2299351" cy="10034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9346083-5B00-D6FB-4ADC-D1AEF7E7BC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8"/>
          <a:stretch>
            <a:fillRect/>
          </a:stretch>
        </p:blipFill>
        <p:spPr>
          <a:xfrm>
            <a:off x="3436002" y="2298055"/>
            <a:ext cx="2289247" cy="9936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E0732DB-940C-46EE-5319-CCB1E3A375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04"/>
          <a:stretch>
            <a:fillRect/>
          </a:stretch>
        </p:blipFill>
        <p:spPr>
          <a:xfrm>
            <a:off x="1156661" y="3221862"/>
            <a:ext cx="2289248" cy="100131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93B6329-5ACA-F396-E541-9C5F81887C8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9"/>
          <a:stretch>
            <a:fillRect/>
          </a:stretch>
        </p:blipFill>
        <p:spPr>
          <a:xfrm>
            <a:off x="3428987" y="3231137"/>
            <a:ext cx="2289246" cy="9936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D85AA2-5B7D-124C-C9AA-F67A376732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16"/>
          <a:stretch>
            <a:fillRect/>
          </a:stretch>
        </p:blipFill>
        <p:spPr>
          <a:xfrm>
            <a:off x="1160420" y="4164192"/>
            <a:ext cx="2289248" cy="98046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554534D-E775-1534-D584-0FD6FE65A97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16"/>
          <a:stretch>
            <a:fillRect/>
          </a:stretch>
        </p:blipFill>
        <p:spPr>
          <a:xfrm>
            <a:off x="3433750" y="4150988"/>
            <a:ext cx="2293946" cy="993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935B22-3489-2C66-2EE6-0EBD05A03879}"/>
              </a:ext>
            </a:extLst>
          </p:cNvPr>
          <p:cNvSpPr txBox="1"/>
          <p:nvPr/>
        </p:nvSpPr>
        <p:spPr>
          <a:xfrm>
            <a:off x="1321358" y="5913455"/>
            <a:ext cx="1539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2014 comparison</a:t>
            </a:r>
          </a:p>
        </p:txBody>
      </p:sp>
    </p:spTree>
    <p:extLst>
      <p:ext uri="{BB962C8B-B14F-4D97-AF65-F5344CB8AC3E}">
        <p14:creationId xmlns:p14="http://schemas.microsoft.com/office/powerpoint/2010/main" val="1863402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10EB4F-6139-A54D-B0B4-0620C83C9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732" y="992869"/>
            <a:ext cx="3890143" cy="3802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74852F-81AB-6F41-EAA9-50B51D9C8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" y="1471613"/>
            <a:ext cx="1855369" cy="25479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D2200D-4AAC-0042-E53C-7C14C2C92279}"/>
              </a:ext>
            </a:extLst>
          </p:cNvPr>
          <p:cNvSpPr txBox="1"/>
          <p:nvPr/>
        </p:nvSpPr>
        <p:spPr>
          <a:xfrm>
            <a:off x="773660" y="570981"/>
            <a:ext cx="2793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Extraction at bottom cell</a:t>
            </a:r>
          </a:p>
        </p:txBody>
      </p:sp>
    </p:spTree>
    <p:extLst>
      <p:ext uri="{BB962C8B-B14F-4D97-AF65-F5344CB8AC3E}">
        <p14:creationId xmlns:p14="http://schemas.microsoft.com/office/powerpoint/2010/main" val="3418957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638A-8FD4-367B-AE01-1AA3745B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03CFE5-97BB-D655-9F6D-E7C42DB94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" y="1471613"/>
            <a:ext cx="1855369" cy="25479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740269-2679-597A-9AED-85819CEED361}"/>
              </a:ext>
            </a:extLst>
          </p:cNvPr>
          <p:cNvSpPr txBox="1"/>
          <p:nvPr/>
        </p:nvSpPr>
        <p:spPr>
          <a:xfrm>
            <a:off x="773660" y="570981"/>
            <a:ext cx="2793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Extraction at 100 m depth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7BAEF9-9CC8-101C-80F6-70B0E21D4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58"/>
          <a:stretch>
            <a:fillRect/>
          </a:stretch>
        </p:blipFill>
        <p:spPr>
          <a:xfrm>
            <a:off x="2629029" y="878758"/>
            <a:ext cx="4150335" cy="402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324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2788</TotalTime>
  <Words>34</Words>
  <Application>Microsoft Office PowerPoint</Application>
  <PresentationFormat>Custom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 S. Bottger</dc:creator>
  <cp:lastModifiedBy>Tia S. Bottger</cp:lastModifiedBy>
  <cp:revision>6</cp:revision>
  <dcterms:created xsi:type="dcterms:W3CDTF">2026-07-30T22:30:00Z</dcterms:created>
  <dcterms:modified xsi:type="dcterms:W3CDTF">2026-08-28T19:43:59Z</dcterms:modified>
</cp:coreProperties>
</file>